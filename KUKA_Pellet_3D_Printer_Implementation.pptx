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EE7B1E"/>
            </a:solidFill>
            <a:effectLst/>
          </c:spPr>
          <c:invertIfNegative val="0"/>
          <c:dLbls>
            <c:numFmt formatCode="0&quot; d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 Robot alone (motion check)</c:v>
                  </c:pt>
                  <c:pt idx="1">
                    <c:v>2 Safety circuit validated</c:v>
                  </c:pt>
                  <c:pt idx="2">
                    <c:v>3 I/O bench test</c:v>
                  </c:pt>
                  <c:pt idx="3">
                    <c:v>4 Tool &amp; base calibration</c:v>
                  </c:pt>
                  <c:pt idx="4">
                    <c:v>5 Dry run in air</c:v>
                  </c:pt>
                  <c:pt idx="5">
                    <c:v>6 Heat soak</c:v>
                  </c:pt>
                  <c:pt idx="6">
                    <c:v>7 First print (PP/PETG)</c:v>
                  </c:pt>
                  <c:pt idx="7">
                    <c:v>8 Scale up + engineering resins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6</c:v>
                </c:pt>
              </c:numCache>
            </c:numRef>
          </c:val>
        </c:ser>
        <c:dLbls>
          <c:numFmt formatCode="0&quot; d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E6B7A"/>
                    </a:solidFill>
                    <a:latin typeface="Arial"/>
                  </a:rPr>
                  <a:t>Indicative effort (days)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Safety
fencing</c:v>
                  </c:pt>
                  <c:pt idx="1">
                    <c:v>Electrical
install</c:v>
                  </c:pt>
                  <c:pt idx="2">
                    <c:v>Heated
bed</c:v>
                  </c:pt>
                  <c:pt idx="3">
                    <c:v>Print
table</c:v>
                  </c:pt>
                  <c:pt idx="4">
                    <c:v>Flange
adapter</c:v>
                  </c:pt>
                  <c:pt idx="5">
                    <c:v>I/O
island</c:v>
                  </c:pt>
                  <c:pt idx="6">
                    <c:v>Slicer
software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4000</c:v>
                </c:pt>
                <c:pt idx="1">
                  <c:v>3500</c:v>
                </c:pt>
                <c:pt idx="2">
                  <c:v>2500</c:v>
                </c:pt>
                <c:pt idx="3">
                  <c:v>1500</c:v>
                </c:pt>
                <c:pt idx="4">
                  <c:v>1000</c:v>
                </c:pt>
                <c:pt idx="5">
                  <c:v>300</c:v>
                </c:pt>
                <c:pt idx="6">
                  <c:v>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949440" cy="6949440"/>
          </a:xfrm>
          <a:prstGeom prst="ellipse">
            <a:avLst/>
          </a:prstGeom>
          <a:solidFill>
            <a:srgbClr val="212B3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2468880"/>
            <a:ext cx="4754880" cy="4754880"/>
          </a:xfrm>
          <a:prstGeom prst="ellipse">
            <a:avLst/>
          </a:prstGeom>
          <a:solidFill>
            <a:srgbClr val="1A222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41732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ADDITIVE MANUFACTURING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Converting a KUKA Robot</a:t>
            </a:r>
            <a:endParaRPr lang="en-US" sz="4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into a Pellet 3D Printer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77724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— Platform, Wiring &amp; Software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4434840"/>
            <a:ext cx="1609344" cy="420624"/>
          </a:xfrm>
          <a:prstGeom prst="roundRect">
            <a:avLst>
              <a:gd name="adj" fmla="val 50000"/>
            </a:avLst>
          </a:prstGeom>
          <a:solidFill>
            <a:srgbClr val="212B36"/>
          </a:solidFill>
          <a:ln w="12700">
            <a:solidFill>
              <a:srgbClr val="EE7B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43484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150 / 180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615184" y="443484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212B36"/>
          </a:solidFill>
          <a:ln w="12700">
            <a:solidFill>
              <a:srgbClr val="EE7B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5184" y="443484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C2 Controller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37176" y="4434840"/>
            <a:ext cx="2665476" cy="420624"/>
          </a:xfrm>
          <a:prstGeom prst="roundRect">
            <a:avLst>
              <a:gd name="adj" fmla="val 50000"/>
            </a:avLst>
          </a:prstGeom>
          <a:solidFill>
            <a:srgbClr val="212B36"/>
          </a:solidFill>
          <a:ln w="12700">
            <a:solidFill>
              <a:srgbClr val="EE7B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37176" y="4434840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Pellet Extrusion (LFAM)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robotic large-format pellet printer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6-axis KUKA arm carries a pellet extruder and prints large parts directly from plastic granules — no filament. The heavy-payload arm, the extruder, and the full feedstock chain are in hand; the work ahead is integration, a build platform, and safety.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206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C5C8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Pellets in. Big parts out.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46520" y="1783080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03911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84264" y="2697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150–180 kg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6702552" y="32644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payload — carries any pellet head with margin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281160" y="1783080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2" y="2039112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18904" y="2697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~2700 mm</a:t>
            </a:r>
            <a:endParaRPr lang="en-US" sz="2700" dirty="0"/>
          </a:p>
        </p:txBody>
      </p:sp>
      <p:sp>
        <p:nvSpPr>
          <p:cNvPr id="14" name="Text 9"/>
          <p:cNvSpPr/>
          <p:nvPr/>
        </p:nvSpPr>
        <p:spPr>
          <a:xfrm>
            <a:off x="9537192" y="32644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— defines the build envelope &amp; cell size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46520" y="417880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434840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84264" y="50932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3–4 kg/h</a:t>
            </a:r>
            <a:endParaRPr lang="en-US" sz="2700" dirty="0"/>
          </a:p>
        </p:txBody>
      </p:sp>
      <p:sp>
        <p:nvSpPr>
          <p:cNvPr id="18" name="Text 12"/>
          <p:cNvSpPr/>
          <p:nvPr/>
        </p:nvSpPr>
        <p:spPr>
          <a:xfrm>
            <a:off x="6702552" y="5660136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Extruder output — moderate LFAM throughput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281160" y="417880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2" y="443484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18904" y="50932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0–350 °C</a:t>
            </a:r>
            <a:endParaRPr lang="en-US" sz="2700" dirty="0"/>
          </a:p>
        </p:txBody>
      </p:sp>
      <p:sp>
        <p:nvSpPr>
          <p:cNvPr id="22" name="Text 15"/>
          <p:cNvSpPr/>
          <p:nvPr/>
        </p:nvSpPr>
        <p:spPr>
          <a:xfrm>
            <a:off x="9537192" y="5660136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range — covers PP, PETG, ABS, PA, PC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HAND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Current assets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914400" cy="91440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50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2004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Robot + Controller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913632"/>
            <a:ext cx="2167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KR 150 / 180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C2 (MP9), KCP2 pendant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480V 3-phase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530352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30352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93008" y="182880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67328" y="2121408"/>
            <a:ext cx="914400" cy="91440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23500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32004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Pellet Extruder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749040" y="3913632"/>
            <a:ext cx="2167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kg/h vertical servo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W · 0–350 °C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 mm nozzle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49040" y="530352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7" name="Text 13"/>
          <p:cNvSpPr/>
          <p:nvPr/>
        </p:nvSpPr>
        <p:spPr>
          <a:xfrm>
            <a:off x="3749040" y="530352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27648" y="182880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01968" y="2121408"/>
            <a:ext cx="914400" cy="91440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35000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65392" y="32004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Hopper Dryer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583680" y="3913632"/>
            <a:ext cx="2167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INTSUPERMAI 110 lb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Dries hygroscopic resins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(ABS, PC, PA, PET)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583680" y="530352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4" name="Text 19"/>
          <p:cNvSpPr/>
          <p:nvPr/>
        </p:nvSpPr>
        <p:spPr>
          <a:xfrm>
            <a:off x="6583680" y="530352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62288" y="182880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436608" y="2121408"/>
            <a:ext cx="914400" cy="91440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35000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00032" y="32004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Vacuum Autoloader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9418320" y="3913632"/>
            <a:ext cx="2167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INTBUYING XC-300G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kg/h · 7.5 L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extruder hopper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418320" y="530352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5"/>
          <p:cNvSpPr/>
          <p:nvPr/>
        </p:nvSpPr>
        <p:spPr>
          <a:xfrm>
            <a:off x="9418320" y="530352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subsystems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51A2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130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2002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94560" y="23682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arm + KR C2 controller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0" y="2267712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E2E8EE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267712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2" name="Shape 9"/>
          <p:cNvSpPr/>
          <p:nvPr/>
        </p:nvSpPr>
        <p:spPr>
          <a:xfrm>
            <a:off x="10378440" y="2185416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8440" y="2185416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" y="293522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31181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51A21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3191256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945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Extrusion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194560" y="3429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Pellet extruder, heat zones, nozzle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675120" y="3328416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E2E8EE"/>
          </a:solidFill>
          <a:ln/>
        </p:spPr>
      </p:sp>
      <p:sp>
        <p:nvSpPr>
          <p:cNvPr id="21" name="Shape 17"/>
          <p:cNvSpPr/>
          <p:nvPr/>
        </p:nvSpPr>
        <p:spPr>
          <a:xfrm>
            <a:off x="6675120" y="3328416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2" name="Shape 18"/>
          <p:cNvSpPr/>
          <p:nvPr/>
        </p:nvSpPr>
        <p:spPr>
          <a:xfrm>
            <a:off x="10378440" y="324612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3" name="Text 19"/>
          <p:cNvSpPr/>
          <p:nvPr/>
        </p:nvSpPr>
        <p:spPr>
          <a:xfrm>
            <a:off x="10378440" y="324612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58368" y="399592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1248" y="4178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51A21"/>
          </a:solidFill>
          <a:ln/>
        </p:spPr>
      </p:sp>
      <p:sp>
        <p:nvSpPr>
          <p:cNvPr id="26" name="Text 22"/>
          <p:cNvSpPr/>
          <p:nvPr/>
        </p:nvSpPr>
        <p:spPr>
          <a:xfrm>
            <a:off x="84124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</a:t>
            </a:r>
            <a:endParaRPr lang="en-US" sz="2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4251960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194560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2194560" y="44897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→ robot toolpath + extruder sync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75120" y="4389120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E2E8EE"/>
          </a:solidFill>
          <a:ln/>
        </p:spPr>
      </p:sp>
      <p:sp>
        <p:nvSpPr>
          <p:cNvPr id="31" name="Shape 26"/>
          <p:cNvSpPr/>
          <p:nvPr/>
        </p:nvSpPr>
        <p:spPr>
          <a:xfrm>
            <a:off x="6675120" y="4389120"/>
            <a:ext cx="608990" cy="146304"/>
          </a:xfrm>
          <a:prstGeom prst="roundRect">
            <a:avLst>
              <a:gd name="adj" fmla="val 50000"/>
            </a:avLst>
          </a:prstGeom>
          <a:solidFill>
            <a:srgbClr val="D2553F"/>
          </a:solidFill>
          <a:ln/>
        </p:spPr>
      </p:sp>
      <p:sp>
        <p:nvSpPr>
          <p:cNvPr id="32" name="Shape 27"/>
          <p:cNvSpPr/>
          <p:nvPr/>
        </p:nvSpPr>
        <p:spPr>
          <a:xfrm>
            <a:off x="10378440" y="4306824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D2553F"/>
          </a:solidFill>
          <a:ln/>
        </p:spPr>
      </p:sp>
      <p:sp>
        <p:nvSpPr>
          <p:cNvPr id="33" name="Text 28"/>
          <p:cNvSpPr/>
          <p:nvPr/>
        </p:nvSpPr>
        <p:spPr>
          <a:xfrm>
            <a:off x="10378440" y="4306824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58368" y="505663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41248" y="52395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51A21"/>
          </a:solidFill>
          <a:ln/>
        </p:spPr>
      </p:sp>
      <p:sp>
        <p:nvSpPr>
          <p:cNvPr id="36" name="Text 31"/>
          <p:cNvSpPr/>
          <p:nvPr/>
        </p:nvSpPr>
        <p:spPr>
          <a:xfrm>
            <a:off x="841248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</a:t>
            </a:r>
            <a:endParaRPr lang="en-US" sz="22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5312664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2194560" y="5184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2194560" y="55504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 + feed (done); bed, table, enclosure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6675120" y="5449824"/>
            <a:ext cx="3383280" cy="146304"/>
          </a:xfrm>
          <a:prstGeom prst="roundRect">
            <a:avLst>
              <a:gd name="adj" fmla="val 50000"/>
            </a:avLst>
          </a:prstGeom>
          <a:solidFill>
            <a:srgbClr val="E2E8EE"/>
          </a:solidFill>
          <a:ln/>
        </p:spPr>
      </p:sp>
      <p:sp>
        <p:nvSpPr>
          <p:cNvPr id="41" name="Shape 35"/>
          <p:cNvSpPr/>
          <p:nvPr/>
        </p:nvSpPr>
        <p:spPr>
          <a:xfrm>
            <a:off x="6675120" y="5449824"/>
            <a:ext cx="1522476" cy="146304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/>
        </p:spPr>
      </p:sp>
      <p:sp>
        <p:nvSpPr>
          <p:cNvPr id="42" name="Shape 36"/>
          <p:cNvSpPr/>
          <p:nvPr/>
        </p:nvSpPr>
        <p:spPr>
          <a:xfrm>
            <a:off x="10378440" y="5367528"/>
            <a:ext cx="780898" cy="292608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/>
        </p:spPr>
      </p:sp>
      <p:sp>
        <p:nvSpPr>
          <p:cNvPr id="43" name="Text 37"/>
          <p:cNvSpPr/>
          <p:nvPr/>
        </p:nvSpPr>
        <p:spPr>
          <a:xfrm>
            <a:off x="10378440" y="5367528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connects to what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162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7452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167128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part to print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99232" y="2212848"/>
            <a:ext cx="45720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20440" y="17830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0162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23944" y="187452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PC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23944" y="216712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+ CuraToKRC2 plugin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.src / .dat files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2212848"/>
            <a:ext cx="45720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766560" y="178308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0162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70064" y="187452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C2 Controller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370064" y="216712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KRL motion program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198864" y="2212848"/>
            <a:ext cx="45720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710928" y="178308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20162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314432" y="187452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DeviceNet I/O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0314432" y="216712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BK5120 island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10607040" y="2697480"/>
            <a:ext cx="0" cy="45720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595360" y="3246120"/>
            <a:ext cx="2926080" cy="960120"/>
          </a:xfrm>
          <a:prstGeom prst="roundRect">
            <a:avLst>
              <a:gd name="adj" fmla="val 6667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35250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98864" y="33375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Extruder Control Box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198864" y="36301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$OUT → RUN/STOP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$ANOUT[1] → speed (0–10V)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$IN ← ready / fault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2697480"/>
            <a:ext cx="0" cy="50292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400800" y="324612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52501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04304" y="3337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Arm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004304" y="3630168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head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toolpath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766560" y="4297680"/>
            <a:ext cx="0" cy="45720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5760720" y="48006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736" y="5033772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64224" y="48920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 Build Bed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6364224" y="518464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adheres here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58368" y="480060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033772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261872" y="489204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1261872" y="518464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dries pellets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2542032" y="5230368"/>
            <a:ext cx="38404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2980944" y="4800600"/>
            <a:ext cx="2194560" cy="868680"/>
          </a:xfrm>
          <a:prstGeom prst="roundRect">
            <a:avLst>
              <a:gd name="adj" fmla="val 7368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960" y="5033772"/>
            <a:ext cx="402336" cy="40233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584448" y="4892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3584448" y="5184648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vacuum-feeds hopper</a:t>
            </a:r>
            <a:endParaRPr lang="en-US" sz="1050" dirty="0"/>
          </a:p>
        </p:txBody>
      </p:sp>
      <p:sp>
        <p:nvSpPr>
          <p:cNvPr id="47" name="Shape 36"/>
          <p:cNvSpPr/>
          <p:nvPr/>
        </p:nvSpPr>
        <p:spPr>
          <a:xfrm>
            <a:off x="5230368" y="5230368"/>
            <a:ext cx="38404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6440" y="5029200"/>
            <a:ext cx="411480" cy="41148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9052560" y="452628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16202B"/>
          </a:solidFill>
          <a:ln w="12700">
            <a:solidFill>
              <a:srgbClr val="33414F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9189720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SELF-REGULATING LOOPS</a:t>
            </a:r>
            <a:endParaRPr lang="en-US" sz="1000" dirty="0"/>
          </a:p>
        </p:txBody>
      </p:sp>
      <p:sp>
        <p:nvSpPr>
          <p:cNvPr id="51" name="Text 39"/>
          <p:cNvSpPr/>
          <p:nvPr/>
        </p:nvSpPr>
        <p:spPr>
          <a:xfrm>
            <a:off x="918972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heat · bed PID · chamber · dryer — run on their own, not by the robot.</a:t>
            </a:r>
            <a:endParaRPr lang="en-US" sz="1150" dirty="0"/>
          </a:p>
        </p:txBody>
      </p:sp>
      <p:sp>
        <p:nvSpPr>
          <p:cNvPr id="52" name="Text 40"/>
          <p:cNvSpPr/>
          <p:nvPr/>
        </p:nvSpPr>
        <p:spPr>
          <a:xfrm>
            <a:off x="658368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robot-controlled in sync with motion     Steel = mechanical / feed path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robot does only three things to the extruder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547872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868680" cy="86868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40864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/ STOP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343814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E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output  $OUT[n]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" y="373989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 on print moves, stop on travel moves.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547872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21408"/>
            <a:ext cx="868680" cy="86868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340864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906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SPEED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343814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E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output  $ANOUT[1]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72584" y="373989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V proportional to sliced flow rate.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828800"/>
            <a:ext cx="3547872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121408"/>
            <a:ext cx="868680" cy="868680"/>
          </a:xfrm>
          <a:prstGeom prst="ellipse">
            <a:avLst/>
          </a:prstGeom>
          <a:solidFill>
            <a:srgbClr val="FBF2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340864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30906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FAULT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394192" y="343814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E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input  $IN[n]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03336" y="373989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print on an extruder fault.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58368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51A2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4632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736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thermal regulates itself.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783080" y="51937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heat zones, the heated bed, the chamber, and the dryer each run on their own controllers. The robot never manages temperature — which keeps the integration small and robust.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Rigid print table, tied to the robot's base frame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64008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17904" y="2066544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build area to the reach — keep it ~1.0–1.5 m square, set 0.7–1.5 m in front of the 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71216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7904" y="2816352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stiff steel weldment with a thick flat top plate (≥15–20 mm) — it must not flex when the heavy arm decelerates.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21024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17904" y="356616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it to the floor, ideally the same slab as the robot, so they can't move relative to each other.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17904" y="431596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 hard reference features (dowels / machined pockets) at known XY — these become the base-calibration points.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120640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17904" y="506577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heated bed on top, on a thermal break so the frame doesn't sink the heat.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4270248" cy="4069080"/>
          </a:xfrm>
          <a:prstGeom prst="roundRect">
            <a:avLst>
              <a:gd name="adj" fmla="val 1798"/>
            </a:avLst>
          </a:prstGeom>
          <a:solidFill>
            <a:srgbClr val="EAF0F5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FRAME ON THE 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3611880"/>
            <a:ext cx="3200400" cy="411480"/>
          </a:xfrm>
          <a:prstGeom prst="rect">
            <a:avLst/>
          </a:prstGeom>
          <a:solidFill>
            <a:srgbClr val="9FB0BF"/>
          </a:solidFill>
          <a:ln w="12700">
            <a:solidFill>
              <a:srgbClr val="2C5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4023360"/>
            <a:ext cx="292608" cy="731520"/>
          </a:xfrm>
          <a:prstGeom prst="rect">
            <a:avLst/>
          </a:prstGeom>
          <a:solidFill>
            <a:srgbClr val="7E8E9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2448" y="4023360"/>
            <a:ext cx="292608" cy="731520"/>
          </a:xfrm>
          <a:prstGeom prst="rect">
            <a:avLst/>
          </a:prstGeom>
          <a:solidFill>
            <a:srgbClr val="7E8E9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3511296"/>
            <a:ext cx="182880" cy="18288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61320" y="3511296"/>
            <a:ext cx="182880" cy="18288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27" name="Shape 25"/>
          <p:cNvSpPr/>
          <p:nvPr/>
        </p:nvSpPr>
        <p:spPr>
          <a:xfrm>
            <a:off x="9692640" y="3401568"/>
            <a:ext cx="182880" cy="18288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28" name="Shape 26"/>
          <p:cNvSpPr/>
          <p:nvPr/>
        </p:nvSpPr>
        <p:spPr>
          <a:xfrm>
            <a:off x="8321040" y="3529584"/>
            <a:ext cx="1280160" cy="0"/>
          </a:xfrm>
          <a:prstGeom prst="line">
            <a:avLst/>
          </a:prstGeom>
          <a:noFill/>
          <a:ln w="31750">
            <a:solidFill>
              <a:srgbClr val="D2553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321040" y="3529584"/>
            <a:ext cx="0" cy="-86868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55548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5074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+ 2 points teach the print coordinate system. Slice Z=0 then equals the real table top.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Heated build bed — adhesion &amp; warp control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64008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17904" y="2066544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surface: flat aluminum tooling plate or borosilicate glass, sized to the build area.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71216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7904" y="2816352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with a high-wattage 240V silicone pad bonded underneath (LFAM beds run ~1.5 kW to 5 kW+).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21024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17904" y="356616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as an independent loop — thermocouple → PID controller → SSR → heater.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17904" y="431596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on the table over insulation + thermal-break standoffs to protect it and save energy.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120640"/>
            <a:ext cx="457200" cy="457200"/>
          </a:xfrm>
          <a:prstGeom prst="ellipse">
            <a:avLst/>
          </a:prstGeom>
          <a:solidFill>
            <a:srgbClr val="EE7B1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17904" y="506577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Adhesion: PEI sheet or glue, plus a wide brim/raft in the slice for big beads.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4270248" cy="4069080"/>
          </a:xfrm>
          <a:prstGeom prst="roundRect">
            <a:avLst>
              <a:gd name="adj" fmla="val 1798"/>
            </a:avLst>
          </a:prstGeom>
          <a:solidFill>
            <a:srgbClr val="EAF0F5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CONTROL 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246888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569464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3816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418320" y="2944368"/>
            <a:ext cx="0" cy="128016"/>
          </a:xfrm>
          <a:prstGeom prst="line">
            <a:avLst/>
          </a:prstGeom>
          <a:noFill/>
          <a:ln w="25400">
            <a:solidFill>
              <a:srgbClr val="3E7CB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589520" y="3072384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172968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38160" y="30723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9418320" y="3547872"/>
            <a:ext cx="0" cy="128016"/>
          </a:xfrm>
          <a:prstGeom prst="line">
            <a:avLst/>
          </a:prstGeom>
          <a:noFill/>
          <a:ln w="25400">
            <a:solidFill>
              <a:srgbClr val="3E7CB1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589520" y="3675888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776472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138160" y="3675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Relay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9418320" y="4151376"/>
            <a:ext cx="0" cy="128016"/>
          </a:xfrm>
          <a:prstGeom prst="line">
            <a:avLst/>
          </a:prstGeom>
          <a:noFill/>
          <a:ln w="25400">
            <a:solidFill>
              <a:srgbClr val="3E7CB1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7589520" y="4279392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4379976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138160" y="42793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Heater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589520" y="5029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by itself — the robot never sets bed temperature.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Enclosure, fencing &amp; safety interlocks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guarding (required)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beyond the swept volume, one interlocked door, E-stops inside and out. A KR 150/180 at speed is lethal.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90488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8483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Thermal &amp; fume chamber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4652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Insulated/poly panels keep a warm chamber (~60 °C, up to 150 °C) and contain fumes — duct an extractor out.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" y="3886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AF0F5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4041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INTO THE KR C2 SAFETY CIRCUIT (X11 / ESC — dual channel)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43984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61288" y="431596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interlock → Operator Safety  C8–C10 / C9–C11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44398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431596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E-stops → C14–C15 / C16–D1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444398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57032" y="431596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bridges with devices — never leave jumpered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58368" y="523036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BE9E4"/>
          </a:solidFill>
          <a:ln w="12700">
            <a:solidFill>
              <a:srgbClr val="D2553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40680"/>
            <a:ext cx="420624" cy="4206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5285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Safety-circuit wiring must be done and validated by a qualified machine-safety integrator — not improvised with permanent jumpers.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I/O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DeviceNet I/O island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2286000" cy="1371600"/>
          </a:xfrm>
          <a:prstGeom prst="roundRect">
            <a:avLst>
              <a:gd name="adj" fmla="val 4667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96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210312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C2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39572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DeviceNet master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99232" y="2697480"/>
            <a:ext cx="45720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20440" y="2011680"/>
            <a:ext cx="2286000" cy="1371600"/>
          </a:xfrm>
          <a:prstGeom prst="roundRect">
            <a:avLst>
              <a:gd name="adj" fmla="val 4667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4963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23944" y="210312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BK5120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23944" y="239572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DeviceNet coupler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MACID 11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52160" y="2258568"/>
            <a:ext cx="41148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309360" y="201168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2130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KL4004 — Analog Out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$ANOUT[1]  →  extruder speed (0–10 V)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852160" y="3493008"/>
            <a:ext cx="41148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309360" y="324612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212B36"/>
          </a:solidFill>
          <a:ln w="19050">
            <a:solidFill>
              <a:srgbClr val="EE7B1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KL2xxx — Digital Out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9224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$OUT[n]  →  extruder RUN / heater enable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852160" y="4727448"/>
            <a:ext cx="411480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309360" y="448056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212B36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92240" y="4599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KL1xxx — Digital In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9224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$IN[n]  ←  extruder ready / fault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8368" y="3657600"/>
            <a:ext cx="5120640" cy="2331720"/>
          </a:xfrm>
          <a:prstGeom prst="roundRect">
            <a:avLst>
              <a:gd name="adj" fmla="val 2745"/>
            </a:avLst>
          </a:prstGeom>
          <a:solidFill>
            <a:srgbClr val="16202B"/>
          </a:solidFill>
          <a:ln w="12700">
            <a:solidFill>
              <a:srgbClr val="3341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IN  iosys.ini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914400" y="4160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ANOUT1=11,0,16,3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outb0=11,8,x3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Full-scale 0x6C00 = 27648 → 10 V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91440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so $ANOUT[1]=1.0 → 10 V = max extrude rate. Bench-test before any print.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309360" y="5532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(licensed electrician): 480V 3-phase to the KR C2 sized to its nameplate (~7.5–13 kVA, not the sum of drive ratings). Bed, extruder box, dryer &amp; loader on their own circuits.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model to robot motion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176272"/>
            <a:ext cx="603504" cy="603504"/>
          </a:xfrm>
          <a:prstGeom prst="ellipse">
            <a:avLst/>
          </a:prstGeom>
          <a:solidFill>
            <a:srgbClr val="151A21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9077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474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CAD → Cura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3816" y="382219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STL in Ultimaker Cura with the CuraToKRC2 plugin.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7772" y="3291840"/>
            <a:ext cx="10972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62072" y="192024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2176272"/>
            <a:ext cx="603504" cy="603504"/>
          </a:xfrm>
          <a:prstGeom prst="ellipse">
            <a:avLst/>
          </a:prstGeom>
          <a:solidFill>
            <a:srgbClr val="151A21"/>
          </a:solidFill>
          <a:ln/>
        </p:spPr>
      </p:sp>
      <p:sp>
        <p:nvSpPr>
          <p:cNvPr id="13" name="Text 10"/>
          <p:cNvSpPr/>
          <p:nvPr/>
        </p:nvSpPr>
        <p:spPr>
          <a:xfrm>
            <a:off x="3602736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90779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8376" y="3474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Configure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17520" y="382219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krl_config.json: tool A/B/C, HOME, Tool &amp; Base numbers, flow constant. Enable Relative Extrusion.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951476" y="3291840"/>
            <a:ext cx="10972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65776" y="192024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2176272"/>
            <a:ext cx="603504" cy="603504"/>
          </a:xfrm>
          <a:prstGeom prst="ellipse">
            <a:avLst/>
          </a:prstGeom>
          <a:solidFill>
            <a:srgbClr val="151A21"/>
          </a:solidFill>
          <a:ln/>
        </p:spPr>
      </p:sp>
      <p:sp>
        <p:nvSpPr>
          <p:cNvPr id="20" name="Text 16"/>
          <p:cNvSpPr/>
          <p:nvPr/>
        </p:nvSpPr>
        <p:spPr>
          <a:xfrm>
            <a:off x="5806440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90779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3474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Export KRL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221224" y="382219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native .src / .dat, auto-split into subroutines to fit KR C2 RAM.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155180" y="3291840"/>
            <a:ext cx="10972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269480" y="192024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10144" y="2176272"/>
            <a:ext cx="603504" cy="603504"/>
          </a:xfrm>
          <a:prstGeom prst="ellipse">
            <a:avLst/>
          </a:prstGeom>
          <a:solidFill>
            <a:srgbClr val="151A21"/>
          </a:solidFill>
          <a:ln/>
        </p:spPr>
      </p:sp>
      <p:sp>
        <p:nvSpPr>
          <p:cNvPr id="27" name="Text 22"/>
          <p:cNvSpPr/>
          <p:nvPr/>
        </p:nvSpPr>
        <p:spPr>
          <a:xfrm>
            <a:off x="8010144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907792"/>
            <a:ext cx="493776" cy="4937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15784" y="3474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Transfer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424928" y="382219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to the controller via USB or network share.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358884" y="3291840"/>
            <a:ext cx="109728" cy="0"/>
          </a:xfrm>
          <a:prstGeom prst="line">
            <a:avLst/>
          </a:prstGeom>
          <a:noFill/>
          <a:ln w="31750">
            <a:solidFill>
              <a:srgbClr val="EE7B1E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473184" y="192024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13848" y="2176272"/>
            <a:ext cx="603504" cy="603504"/>
          </a:xfrm>
          <a:prstGeom prst="ellipse">
            <a:avLst/>
          </a:prstGeom>
          <a:solidFill>
            <a:srgbClr val="151A21"/>
          </a:solidFill>
          <a:ln/>
        </p:spPr>
      </p:sp>
      <p:sp>
        <p:nvSpPr>
          <p:cNvPr id="34" name="Text 28"/>
          <p:cNvSpPr/>
          <p:nvPr/>
        </p:nvSpPr>
        <p:spPr>
          <a:xfrm>
            <a:off x="10213848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1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2907792"/>
            <a:ext cx="493776" cy="4937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19488" y="3474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628632" y="382219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follows the path; writes $ANOUT[1] for flow, toggles $OUT[n] for extrude on/off.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58368" y="4983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0F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508760" y="5074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KUKA|prc (Rhino/Grasshopper) for simulation &amp; non-planar toolpaths · RoboDK + KUKA.RSI for live streaming (~4–12 ms) — add later, no drive changes.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Tie the model, the nozzle, and the table together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30552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2157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 (TCP) — XYZ 4-point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8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▸ Measure ▸ Tool ▸ XYZ 4-point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nozzle tip to one fixed point from 4 orientations; the controller computes the TCP. Enter the tool A/B/C to match krl_config.json. Save as the Tool number.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0488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30552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59752" y="2157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Base — 3-point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46520" y="28803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8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▸ Measure ▸ Base ▸ 3-point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taught TCP, touch the table's 3 reference features: origin, a point on +X, a point in the XY plane. This builds the print coordinate frame. Save as the Base number.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58368" y="528523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51A2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5896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528523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jog to Base 0,0,0 — the nozzle should sit at the table origin; +X and +Y run along the table edges. Re-touch after any crash.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Commissioning sequence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589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82880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151A21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0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Gate everything on Step 2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68680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the arm near the table until the door interlock and every E-stop are proven to stop it.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86800" y="4526280"/>
            <a:ext cx="2606040" cy="0"/>
          </a:xfrm>
          <a:prstGeom prst="line">
            <a:avLst/>
          </a:prstGeom>
          <a:noFill/>
          <a:ln w="12700">
            <a:solidFill>
              <a:srgbClr val="33414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0" y="46817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print: a single-wall cylinder in PP or PETG (no drying needed) to dial in temp, bead width &amp; flow.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Remaining spend — entry path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269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51A21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7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~$12.8k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32104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remaining for a working entry-level cell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3977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88900" dist="38100" dir="5400000">
              <a:srgbClr val="1B24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206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0" y="4224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Already owned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21040" y="47365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Robot, extruder, dryer &amp; autoloader. Skipping the EtherCAT/drive swap avoids several thousand more.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· LFAM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58952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owners, one cell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212B36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304288"/>
            <a:ext cx="868680" cy="868680"/>
          </a:xfrm>
          <a:prstGeom prst="ellipse">
            <a:avLst/>
          </a:prstGeom>
          <a:solidFill>
            <a:srgbClr val="2C38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523744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33101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Licensed Electrician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8992" y="37947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480V feeder, disconnect, grounding, and the high-power bed/chamber circuits.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71416" y="201168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212B36"/>
          </a:solidFill>
          <a:ln/>
        </p:spPr>
      </p:sp>
      <p:sp>
        <p:nvSpPr>
          <p:cNvPr id="10" name="Shape 7"/>
          <p:cNvSpPr/>
          <p:nvPr/>
        </p:nvSpPr>
        <p:spPr>
          <a:xfrm>
            <a:off x="4764024" y="2304288"/>
            <a:ext cx="868680" cy="868680"/>
          </a:xfrm>
          <a:prstGeom prst="ellipse">
            <a:avLst/>
          </a:prstGeom>
          <a:solidFill>
            <a:srgbClr val="2C38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23744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4024" y="33101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Safety Integrator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73168" y="37947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 / ESC wiring of fence interlock + E-stops, and validation that they stop the robot.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65592" y="201168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212B3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04288"/>
            <a:ext cx="868680" cy="868680"/>
          </a:xfrm>
          <a:prstGeom prst="ellipse">
            <a:avLst/>
          </a:prstGeom>
          <a:solidFill>
            <a:srgbClr val="2C38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523744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101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67344" y="379476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bed, enclosure shell, I/O island, slicer setup, and calibration — stage and bench-test.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4800600"/>
            <a:ext cx="10652760" cy="1325880"/>
          </a:xfrm>
          <a:prstGeom prst="roundRect">
            <a:avLst>
              <a:gd name="adj" fmla="val 5517"/>
            </a:avLst>
          </a:prstGeom>
          <a:solidFill>
            <a:srgbClr val="2A1E12"/>
          </a:solidFill>
          <a:ln w="19050">
            <a:solidFill>
              <a:srgbClr val="EE7B1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138928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892040"/>
            <a:ext cx="9326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first: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extruder control box accepts an external RUN/STOP + speed signal. That single answer decides how good the prints can be — check its wiring manual before ordering the I/O island.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KUKA Pellet 3D Printer — Implementation Plan</dc:title>
  <dc:subject>PptxGenJS Presentation</dc:subject>
  <dc:creator>Cowork</dc:creator>
  <cp:lastModifiedBy>Cowork</cp:lastModifiedBy>
  <cp:revision>1</cp:revision>
  <dcterms:created xsi:type="dcterms:W3CDTF">2026-06-22T23:01:12Z</dcterms:created>
  <dcterms:modified xsi:type="dcterms:W3CDTF">2026-06-22T23:01:12Z</dcterms:modified>
</cp:coreProperties>
</file>